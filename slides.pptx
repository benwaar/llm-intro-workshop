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italic r:id="rId32"/>
      <p:boldItalic r:id="rId33"/>
    </p:embeddedFont>
    <p:embeddedFont>
      <p:font typeface="Space Grotesk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D7B068-6FB6-4548-B273-D29C35BBEEBE}">
  <a:tblStyle styleId="{6ED7B068-6FB6-4548-B273-D29C35BBEE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5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7.xml"/><Relationship Id="rId35" Type="http://schemas.openxmlformats.org/officeDocument/2006/relationships/font" Target="fonts/SpaceGrotesk-bold.fntdata"/><Relationship Id="rId12" Type="http://schemas.openxmlformats.org/officeDocument/2006/relationships/slide" Target="slides/slide6.xml"/><Relationship Id="rId34" Type="http://schemas.openxmlformats.org/officeDocument/2006/relationships/font" Target="fonts/SpaceGrotesk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21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34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9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40.png"/><Relationship Id="rId7" Type="http://schemas.openxmlformats.org/officeDocument/2006/relationships/image" Target="../media/image30.png"/><Relationship Id="rId8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76275" y="2791866"/>
            <a:ext cx="6542849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Mastering AI Systems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76275" y="3730972"/>
            <a:ext cx="65532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A Professional Guide to LLMs, Prompting Frameworks, &amp; Skills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1682055"/>
            <a:ext cx="2566987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3762" y="1682055"/>
            <a:ext cx="2566987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682055"/>
            <a:ext cx="2566987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8737" y="1682055"/>
            <a:ext cx="2566987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1691580"/>
            <a:ext cx="25479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43287" y="1691580"/>
            <a:ext cx="25479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00775" y="1691580"/>
            <a:ext cx="25479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8262" y="1691580"/>
            <a:ext cx="25479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1691580"/>
            <a:ext cx="2547937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95350" y="3615630"/>
            <a:ext cx="223527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LLM = Brain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95350" y="3958530"/>
            <a:ext cx="21288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Understands context, reasons through complex instructions, and acts as the computational intelligence core.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43287" y="1691580"/>
            <a:ext cx="2547937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3652837" y="3615630"/>
            <a:ext cx="223527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 = Brain + Books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3652837" y="3958530"/>
            <a:ext cx="21288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Accesses external secure databases and files dynamically to ground model answers in real-world facts.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00775" y="1691580"/>
            <a:ext cx="2547937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410325" y="3615630"/>
            <a:ext cx="223527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MCP = Connector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410325" y="3958530"/>
            <a:ext cx="21288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Model Context Protocol standardizes local connections, linking LLMs directly to file systems and services.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58262" y="1691580"/>
            <a:ext cx="2547937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9167812" y="3615630"/>
            <a:ext cx="223527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 = Brain + Hands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67812" y="3958530"/>
            <a:ext cx="212883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Combines advanced planning loops, native tools, and actions to complete business goals autonomously.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SYSTEMS: A HUMAN ANALOGY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76275" y="6486525"/>
            <a:ext cx="6664821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Analogy layout conceptualized in strict reference to visual components from Capture.JPG and Capture_2.JPG.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1064" y="2129730"/>
            <a:ext cx="211708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8644" y="2129730"/>
            <a:ext cx="211708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76275" y="2129730"/>
            <a:ext cx="628547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Top 5 Operational Risks of Raw LLMs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9650" y="2539305"/>
            <a:ext cx="565278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Confident Hallucinations: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Generating technically plausible but completely fictitious facts or source links.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9650" y="3139380"/>
            <a:ext cx="565278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Algorithmic Contextual Bias: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Over-reliance on latent training data prejudices without objective constraints.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09650" y="3739455"/>
            <a:ext cx="565278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Output Structural Drift: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Disorganized, raw language outputs that crash downstream system integrations.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09650" y="4339530"/>
            <a:ext cx="565278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Prompt Injection Vulnerabilities: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Malicious user queries hijacking agent processing paths.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09650" y="4939605"/>
            <a:ext cx="565278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5. Data Leakage Risks: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Unconstrained agents repeating confidential files or operational parameters.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291089" y="4491930"/>
            <a:ext cx="171703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Frameworks isolate instruction paths, restricting generative entropy.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598669" y="4272855"/>
            <a:ext cx="171703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System guidelines actively balance implicit data weights.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PROMPT FRAMEWORKS? CONTROL VS. CHAOS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76275" y="6486525"/>
            <a:ext cx="603602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Operational frameworks convert unstable open-ended LLMs into deterministic enterprise utilities.</a:t>
            </a:r>
            <a:endParaRPr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25583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1584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75850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43585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49586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0589" y="2139255"/>
            <a:ext cx="209803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7291089" y="3996630"/>
            <a:ext cx="180288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Mitigating Hallucinations</a:t>
            </a:r>
            <a:endParaRPr/>
          </a:p>
        </p:txBody>
      </p:sp>
      <p:pic>
        <p:nvPicPr>
          <p:cNvPr descr="image.png" id="140" name="Google Shape;14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08169" y="2139255"/>
            <a:ext cx="209803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9598669" y="3996630"/>
            <a:ext cx="18028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Neutralizing Bias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458342"/>
            <a:ext cx="34607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458342"/>
            <a:ext cx="34607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4875" y="2458342"/>
            <a:ext cx="3460849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753617"/>
            <a:ext cx="28701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971550" y="3248917"/>
            <a:ext cx="30136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CRAFT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71550" y="3658492"/>
            <a:ext cx="2870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Context, Role, Action, Format, Tone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The premiere all-rounder for creating standard operating procedures (SOPs), templates, and operational drafts.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0850" y="2753617"/>
            <a:ext cx="28701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4660850" y="3248917"/>
            <a:ext cx="30136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RTF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4660850" y="3658492"/>
            <a:ext cx="2870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Role, Task, Format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The standard for speed-oriented admin automation, like transforming raw logs into markdown tables.</a:t>
            </a:r>
            <a:endParaRPr/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150" y="2753617"/>
            <a:ext cx="2870299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8350150" y="3248917"/>
            <a:ext cx="301381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PGTC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350150" y="3658492"/>
            <a:ext cx="28702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Persona, Goal, Task, Context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Tailored specifically for management coordination, executive schedules, and executive communications.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FRAMEWORKS FOR ADMINISTRATIVE TASKS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76275" y="2731889"/>
            <a:ext cx="54656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Operational Focus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76275" y="3170039"/>
            <a:ext cx="5205412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Administrative tasks demand strict, unyielding format conventions and minimal temperature configurations. Randomness causes system formatting failures.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6275" y="4091880"/>
            <a:ext cx="5205412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Structured prompts establish guardrails that enforce layout consistency, translating unstructured human communications into pristine business reports.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43687" y="2731889"/>
            <a:ext cx="487203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Repeatable Patterns: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Guarantees uniform style throughout document generations.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43687" y="3389114"/>
            <a:ext cx="487203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Over-complications: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Eliminates conversational fluff and returns direct, clean files.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43687" y="4046339"/>
            <a:ext cx="487203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Persona Protection: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Aligns communication tones exactly with corporate brand standards.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STRUCTURING ADMINISTRATIVE SUCCESS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75093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340816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406538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344042"/>
            <a:ext cx="34607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344042"/>
            <a:ext cx="34607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4875" y="2344042"/>
            <a:ext cx="34608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639317"/>
            <a:ext cx="28701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971550" y="3134617"/>
            <a:ext cx="30136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RISEN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71550" y="3544192"/>
            <a:ext cx="28701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Role, Instructions, Steps, End-goal, Narrowing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Imposes sequential pipelines for architectural builds, software designs, and multi-tier databases.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0850" y="2639317"/>
            <a:ext cx="28701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4660850" y="3134617"/>
            <a:ext cx="30136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Chain-of-Thought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4660850" y="3544192"/>
            <a:ext cx="2870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Step-by-Step Logic Progression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The global standard for software testing and math. Forces internal execution reasoning before code generation.</a:t>
            </a:r>
            <a:endParaRPr/>
          </a:p>
        </p:txBody>
      </p:sp>
      <p:pic>
        <p:nvPicPr>
          <p:cNvPr descr="image.png" id="191" name="Google Shape;19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150" y="2639317"/>
            <a:ext cx="2870299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8350150" y="3134617"/>
            <a:ext cx="301381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Few-Shot Prompting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350150" y="3544192"/>
            <a:ext cx="28702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Schema Replication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Injects native code style blocks. Forces the AI to mimic existing file architectures without code pattern drift.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FRAMEWORKS FOR ENGINEERING TASKS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725042"/>
            <a:ext cx="5205412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914400" y="2963167"/>
            <a:ext cx="496562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Engineering Mechanics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14400" y="3306067"/>
            <a:ext cx="4729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By forcing the model to trace logical paths step-by-step, engineers bypass common semantic and structural synthesis errors.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14400" y="3906142"/>
            <a:ext cx="472916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Applying </a:t>
            </a: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Few-Shot templates</a:t>
            </a: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next to </a:t>
            </a: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Chain-of-Thought (CoT)</a:t>
            </a: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ensures syntax accuracy while bounding computational logic within standard systems.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43687" y="2725042"/>
            <a:ext cx="487203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Logical Determinism: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Eliminates runtime errors in synthesized scripts.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643687" y="3353692"/>
            <a:ext cx="487203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Internal Code Verification: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Encourages testing loops during development.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643687" y="3982342"/>
            <a:ext cx="487203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Strict Boundaries: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Narrowing tags prevent use of deprecated or outdated libraries.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LOGICAL PROGRESSION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7440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337274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400139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2195" y="1777305"/>
            <a:ext cx="4663529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676275" y="2276475"/>
            <a:ext cx="598465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Baseline Skill Architecture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76275" y="2762250"/>
            <a:ext cx="569967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Structuring core instructions isolates performance rules, preventing the model from defaulting to basic assistant behaviors.</a:t>
            </a:r>
            <a:endParaRPr/>
          </a:p>
        </p:txBody>
      </p:sp>
      <p:pic>
        <p:nvPicPr>
          <p:cNvPr descr="image.png" id="221" name="Google Shape;22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1720" y="1786830"/>
            <a:ext cx="4644479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1009650" y="3535560"/>
            <a:ext cx="53662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Pillar 1: Identity &amp; Persona: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Establishes implicit backgrounds, expertise boundaries, and core communication style.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009650" y="4164210"/>
            <a:ext cx="53662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Pillar 2: Mechanics &amp; Guardrails: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Configures strict negative constraints, formatting, and disallowed wording.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009650" y="4792860"/>
            <a:ext cx="53662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Pillar 3: Knowledge Base:</a:t>
            </a:r>
            <a:r>
              <a:rPr b="0" i="0" lang="en-US" sz="12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Feeds design schemas and proprietary context files for system replica modeling.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THREE PILLARS OF AI SKILLS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5546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41832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481191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1372597" y="2574577"/>
            <a:ext cx="944680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Advanced Skill Architecture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3457575" y="3593752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Constructing Production-Grade Prompt Systems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381625" y="4245173"/>
            <a:ext cx="1428750" cy="381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820292"/>
            <a:ext cx="346070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820292"/>
            <a:ext cx="346070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4875" y="2820292"/>
            <a:ext cx="3460849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971550" y="3115567"/>
            <a:ext cx="30136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&amp; Objective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971550" y="3525142"/>
            <a:ext cx="287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Defines the workspace setting and permanent operational mission this specific skill system is programmed to achieve.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660850" y="3115567"/>
            <a:ext cx="30136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Style &amp; Tone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4660850" y="3525142"/>
            <a:ext cx="28701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Sets precise presentation rules (e.g., highly technical, plain) alongside communication boundaries (e.g., analytical, non-apologetic).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350150" y="3115567"/>
            <a:ext cx="301381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Audience &amp; Response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350150" y="3525142"/>
            <a:ext cx="28702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Calibrates complex technical language to specific target groups, delivering structured outputs in formats like markdown or JSON.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CO-STAR SKILL CONFIGURATION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767905"/>
            <a:ext cx="5205412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676275" y="2767905"/>
            <a:ext cx="54656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Industrial Standard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76275" y="3206055"/>
            <a:ext cx="5205412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Markup symbols (e.g., XML tags) cleanly isolate instruction blocks. Advanced models detect these visual dividers programmatically with extreme accuracy.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76275" y="4127896"/>
            <a:ext cx="520541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This isolation guarantees system logic and system rules remain protected from user inputs, preventing runtime prompt injections.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XML-TAGGED MODULAR ARCHITECTURE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587823"/>
            <a:ext cx="10839450" cy="23793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1" name="Google Shape;271;p24"/>
          <p:cNvGraphicFramePr/>
          <p:nvPr/>
        </p:nvGraphicFramePr>
        <p:xfrm>
          <a:off x="685800" y="2597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{6ED7B068-6FB6-4548-B273-D29C35BBEEBE}</a:tableStyleId>
              </a:tblPr>
              <a:tblGrid>
                <a:gridCol w="1579075"/>
                <a:gridCol w="4325850"/>
                <a:gridCol w="4915500"/>
              </a:tblGrid>
              <a:tr h="5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Best Used For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Primary Advantage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</a:tr>
              <a:tr h="5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Pillars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Voice design, style cloning &amp; role setup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readability; easily written and modified.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CO-STAR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 strategic planning &amp; business models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Maintains strict alignment with enterprise goals.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XML-Tagged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 automation systems &amp; software design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D1D5D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Absolute programmatic control; avoids code injections.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24"/>
          <p:cNvSpPr/>
          <p:nvPr/>
        </p:nvSpPr>
        <p:spPr>
          <a:xfrm>
            <a:off x="685800" y="3209776"/>
            <a:ext cx="15790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2264866" y="3209776"/>
            <a:ext cx="43258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6590704" y="3209776"/>
            <a:ext cx="491549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685800" y="3790801"/>
            <a:ext cx="15790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2264866" y="3790801"/>
            <a:ext cx="43258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6590704" y="3790801"/>
            <a:ext cx="491549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685800" y="4371826"/>
            <a:ext cx="15790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2264866" y="4371826"/>
            <a:ext cx="43258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6590704" y="4371826"/>
            <a:ext cx="491549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FRAMEWORKS COMPARE IN PRODUCTION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3970581" y="2407890"/>
            <a:ext cx="425068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3614737" y="3522315"/>
            <a:ext cx="49625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Intro to LLMs, Prompting, and Skills Complete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4221063" y="4268985"/>
            <a:ext cx="374972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system_mode // prompt_engineering_academy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/>
          <p:nvPr/>
        </p:nvSpPr>
        <p:spPr>
          <a:xfrm>
            <a:off x="676275" y="1229915"/>
            <a:ext cx="108394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676275" y="2212776"/>
            <a:ext cx="10839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676275" y="2997547"/>
            <a:ext cx="108394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676275" y="3980408"/>
            <a:ext cx="10839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676275" y="4765178"/>
            <a:ext cx="10839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676275" y="2203251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676275" y="2203251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676275" y="2988022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676275" y="2988022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676275" y="3970883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676275" y="3970883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676275" y="4755653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676275" y="4755653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676275" y="5540424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676275" y="5540424"/>
            <a:ext cx="10839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1" name="Google Shape;31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14784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6"/>
          <p:cNvSpPr txBox="1"/>
          <p:nvPr/>
        </p:nvSpPr>
        <p:spPr>
          <a:xfrm>
            <a:off x="1771650" y="1372790"/>
            <a:ext cx="9744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https://static.vecteezy.com/system/resources/previews/019/032/106/non_2x/brain-abstract-digital-human-brain-in-a-distorted-glitch-style-neural-network-iq-testing-artificial-intelligence-virtual-emulation-technology-concept-brainstorm-think-idea-illustration-vector.jpg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1771650" y="1816596"/>
            <a:ext cx="9744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314" name="Google Shape;31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23622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6"/>
          <p:cNvSpPr txBox="1"/>
          <p:nvPr/>
        </p:nvSpPr>
        <p:spPr>
          <a:xfrm>
            <a:off x="1771650" y="2355651"/>
            <a:ext cx="9744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https://png.pngtree.com/thumb_back/fh260/background/20260505/pngtree-abstract-flow-of-glowing-dots-and-lines-in-blue-pink-purple-image_21777984.webp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1771650" y="2601366"/>
            <a:ext cx="9744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317" name="Google Shape;31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2460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1771650" y="3140422"/>
            <a:ext cx="9744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https://png.pngtree.com/thumb_back/fw800/background/20260117/pngtree-abstract-high-tech-motherboard-background-featuring-glowing-colorful-neural-network-connections-image_21148954.webp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1771650" y="3584227"/>
            <a:ext cx="9744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320" name="Google Shape;32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41298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 txBox="1"/>
          <p:nvPr/>
        </p:nvSpPr>
        <p:spPr>
          <a:xfrm>
            <a:off x="1771650" y="4123283"/>
            <a:ext cx="9744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https://i.pcmag.com/imagery/articles/06tRsMNeqsP8HkZjg9F5kYo-2.fit_lim.v1774547518.jpg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1771650" y="4368998"/>
            <a:ext cx="9744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www.pcmag.com</a:t>
            </a:r>
            <a:endParaRPr/>
          </a:p>
        </p:txBody>
      </p:sp>
      <p:pic>
        <p:nvPicPr>
          <p:cNvPr descr="image.png" id="323" name="Google Shape;32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491460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/>
        </p:nvSpPr>
        <p:spPr>
          <a:xfrm>
            <a:off x="1771650" y="4908053"/>
            <a:ext cx="9744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https://images.stockcake.com/public/3/e/9/3e9120f2-ad42-4846-b2ac-2a65fbc973af_large/neon-glitch-pattern-stockcake.jpg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1771650" y="5153769"/>
            <a:ext cx="9744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326" name="Google Shape;326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" y="56993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6"/>
          <p:cNvSpPr txBox="1"/>
          <p:nvPr/>
        </p:nvSpPr>
        <p:spPr>
          <a:xfrm>
            <a:off x="1771650" y="5692824"/>
            <a:ext cx="9744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https://png.pngtree.com/png-vector/20250808/ourlarge/pngtree-glowing-blue-digital-cube-with-grid-lines-and-nodes-on-isolated-png-image_16792901.webp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1771650" y="5938539"/>
            <a:ext cx="9744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35394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7"/>
          <p:cNvSpPr txBox="1"/>
          <p:nvPr/>
        </p:nvSpPr>
        <p:spPr>
          <a:xfrm>
            <a:off x="1771650" y="3433762"/>
            <a:ext cx="9744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https://static.vecteezy.com/system/resources/previews/072/923/056/large_2x/abstract-glowing-digital-column-in-a-dark-futuristic-room-illustrating-the-concept-of-advanced-technology-ai-and-seamless-data-transfer-photo.jpg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1771650" y="3877567"/>
            <a:ext cx="9744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866775" y="533400"/>
            <a:ext cx="11181397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340" name="Google Shape;340;p27"/>
          <p:cNvSpPr/>
          <p:nvPr/>
        </p:nvSpPr>
        <p:spPr>
          <a:xfrm>
            <a:off x="676275" y="533400"/>
            <a:ext cx="47625" cy="411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